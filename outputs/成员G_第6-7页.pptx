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/>
        </p:txBody>
      </p:sp>
      <p:sp>
        <p:nvSpPr>
          <p:cNvPr id="3" name="Subtitle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4" name="Date Placeholder 3"/>
          <p:cNvSpPr/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/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/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Slide Number Placeholder 5"/>
          <p:cNvSpPr/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2563A6"/>
              </a:gs>
            </a:gsLst>
          </a:gradFill>
          <a:ln w="0">
            <a:solidFill>
              <a:srgbClr val="1F4E79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342900" y="228600"/>
            <a:ext cx="1200150" cy="36195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第6页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14500" y="171450"/>
            <a:ext cx="981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sz="2550" b="1">
                <a:solidFill>
                  <a:srgbClr val="FFFFFF"/>
                </a:solidFill>
              </a:rPr>
              <a:t>马克思主义解释线（一）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590550"/>
            <a:ext cx="962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200">
                <a:solidFill>
                  <a:srgbClr val="DBEAFE"/>
                </a:solidFill>
              </a:rPr>
              <a:t>第一原理：生产力决定生产关系</a:t>
            </a:r>
            <a:endParaRPr sz="1200">
              <a:solidFill>
                <a:srgbClr val="DBEAF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8150" y="1104900"/>
            <a:ext cx="54864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238250"/>
            <a:ext cx="76200" cy="323850"/>
          </a:xfrm>
          <a:prstGeom prst="rect">
            <a:avLst/>
          </a:prstGeom>
          <a:solidFill>
            <a:srgbClr val="2F7FD3"/>
          </a:solidFill>
          <a:ln w="0">
            <a:solidFill>
              <a:srgbClr val="2F7FD3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219200"/>
            <a:ext cx="5105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历史唯物主义的规律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1657350"/>
            <a:ext cx="50863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蒸汽机、电力、互联网每次跃迁都重塑协作关系与分配方式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技术革命不是“旧岗位升级”，而是“职业生态重组”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因此不能只讨论培训提效，更要讨论关系重构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67450" y="1104900"/>
            <a:ext cx="54864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00800" y="1238250"/>
            <a:ext cx="76200" cy="323850"/>
          </a:xfrm>
          <a:prstGeom prst="rect">
            <a:avLst/>
          </a:prstGeom>
          <a:solidFill>
            <a:srgbClr val="0EA5A4"/>
          </a:solidFill>
          <a:ln w="0">
            <a:solidFill>
              <a:srgbClr val="0EA5A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1219200"/>
            <a:ext cx="5105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Agent 时代的质变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34150" y="1657350"/>
            <a:ext cx="50863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Agent可直接产出代码、报告、研究等市场化成果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变化不是量变提效，而是价值生产主体的结构变化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“执行层被替代”说明旧生产关系已难容纳新生产力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38150" y="3695700"/>
            <a:ext cx="1131570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3829050"/>
            <a:ext cx="76200" cy="3238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810000"/>
            <a:ext cx="1093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对 Hinton 观点的马克思主义回应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4248150"/>
            <a:ext cx="109156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Hinton看到了替代风险，但主要停留在监管、限速、补贴等旧框架修补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问题核心不在“堵洪水”，而在“修河道”：主动设计适配Agent的新生产关系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顺着“生产力→生产关系”逻辑继续追问：新的协作结构与价值分配应如何重建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8150" y="6115050"/>
            <a:ext cx="113157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9525">
            <a:solidFill>
              <a:srgbClr val="BDD3EA"/>
            </a:solidFill>
            <a:prstDash val="solid"/>
          </a:ln>
        </p:spPr>
        <p:txBody>
          <a:bodyPr lIns="152400" tIns="76200" rIns="152400" bIns="76200" anchor="ctr"/>
          <a:lstStyle/>
          <a:p>
            <a:r>
              <a:rPr sz="1425" b="1">
                <a:solidFill>
                  <a:srgbClr val="0F3B66"/>
                </a:solidFill>
              </a:rPr>
              <a:t>结论：当生产力发生质变，生产关系不可能原地不动。AI时代需要的是制度与协作方式升级。</a:t>
            </a:r>
            <a:endParaRPr sz="1425" b="1">
              <a:solidFill>
                <a:srgbClr val="0F3B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Number Placeholder 5"/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  <a:ln w="0">
            <a:solidFill>
              <a:srgbClr val="F5F8FC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12192000" cy="819150"/>
          </a:xfrm>
          <a:prstGeom prst="rect">
            <a:avLst/>
          </a:prstGeom>
          <a:gradFill>
            <a:gsLst>
              <a:gs pos="0">
                <a:srgbClr val="1F4E79"/>
              </a:gs>
              <a:gs pos="100000">
                <a:srgbClr val="2563A6"/>
              </a:gs>
            </a:gsLst>
          </a:gradFill>
          <a:ln w="0">
            <a:solidFill>
              <a:srgbClr val="1F4E79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342900" y="228600"/>
            <a:ext cx="1200150" cy="36195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第7页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714500" y="171450"/>
            <a:ext cx="9810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sz="2550" b="1">
                <a:solidFill>
                  <a:srgbClr val="FFFFFF"/>
                </a:solidFill>
              </a:rPr>
              <a:t>马克思主义解释线（二）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733550" y="590550"/>
            <a:ext cx="962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200">
                <a:solidFill>
                  <a:srgbClr val="DBEAFE"/>
                </a:solidFill>
              </a:rPr>
              <a:t>执行劳动被压缩，意图劳动上移为核心</a:t>
            </a:r>
            <a:endParaRPr sz="1200">
              <a:solidFill>
                <a:srgbClr val="DBEAF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38150" y="1104900"/>
            <a:ext cx="5486400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1238250"/>
            <a:ext cx="7620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1219200"/>
            <a:ext cx="5105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变化一：边际劳动成本被重写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1657350"/>
            <a:ext cx="5086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传统工具每次调用都需新增人工投入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Agent把大量劳动“前置压缩”到模型权重与知识库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调用1次与100万次的边际成本趋同，规模效应空前放大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67450" y="1104900"/>
            <a:ext cx="5486400" cy="249555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00800" y="1238250"/>
            <a:ext cx="76200" cy="323850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553200" y="1219200"/>
            <a:ext cx="5105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变化二：劳动重心从执行转向意图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34150" y="1657350"/>
            <a:ext cx="5086350" cy="179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Agent主要替代“具体执行层”，并未替代价值判断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人类角色转向：意图定义、架构判断、审美与伦理裁决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核心竞争力由“写得快”转为“定义对问题与目标”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38150" y="3829050"/>
            <a:ext cx="11315700" cy="20574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1430">
            <a:solidFill>
              <a:srgbClr val="D6E2F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3962400"/>
            <a:ext cx="76200" cy="3238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3943350"/>
            <a:ext cx="1093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800" b="1">
                <a:solidFill>
                  <a:srgbClr val="0F172A"/>
                </a:solidFill>
              </a:rPr>
              <a:t>落到课堂结论：我们应如何理解这场变化</a:t>
            </a:r>
            <a:endParaRPr sz="18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4381500"/>
            <a:ext cx="109156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sz="1350">
                <a:solidFill>
                  <a:srgbClr val="334155"/>
                </a:solidFill>
              </a:rPr>
              <a:t>• 把“AI替代焦虑”上升为“生产关系重构问题”，才是马克思主义视角的关键推进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就业与分工不会消失，而是围绕Agent重排：人机协作、流程编排、意图翻译成为新岗位核心</a:t>
            </a:r>
            <a:endParaRPr sz="1350">
              <a:solidFill>
                <a:srgbClr val="334155"/>
              </a:solidFill>
            </a:endParaRPr>
          </a:p>
          <a:p>
            <a:r>
              <a:rPr sz="1350">
                <a:solidFill>
                  <a:srgbClr val="334155"/>
                </a:solidFill>
              </a:rPr>
              <a:t>• 因此，结论是：真正被重塑的是分工结构与价值分配逻辑，而非单一岗位的存亡</a:t>
            </a:r>
            <a:endParaRPr sz="1350">
              <a:solidFill>
                <a:srgbClr val="334155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38150" y="6115050"/>
            <a:ext cx="11315700" cy="476250"/>
          </a:xfrm>
          <a:prstGeom prst="roundRect">
            <a:avLst>
              <a:gd name="adj" fmla="val 16000"/>
            </a:avLst>
          </a:prstGeom>
          <a:solidFill>
            <a:srgbClr val="E8F1FB"/>
          </a:solidFill>
          <a:ln w="9525">
            <a:solidFill>
              <a:srgbClr val="BDD3EA"/>
            </a:solidFill>
            <a:prstDash val="solid"/>
          </a:ln>
        </p:spPr>
        <p:txBody>
          <a:bodyPr lIns="152400" tIns="76200" rIns="152400" bIns="76200" anchor="ctr"/>
          <a:lstStyle/>
          <a:p>
            <a:r>
              <a:rPr sz="1425" b="1">
                <a:solidFill>
                  <a:srgbClr val="0F3B66"/>
                </a:solidFill>
              </a:rPr>
              <a:t>结论：人的不可替代性正在“上移”到意图、判断与责任层，这正是新生产关系的起点。</a:t>
            </a:r>
            <a:endParaRPr sz="1425" b="1">
              <a:solidFill>
                <a:srgbClr val="0F3B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berGTheme">
  <a:themeElements>
    <a:clrScheme name="MemberGTheme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1F4E79"/>
      </a:accent1>
      <a:accent2>
        <a:srgbClr val="2F7FD3"/>
      </a:accent2>
      <a:accent3>
        <a:srgbClr val="0EA5A4"/>
      </a:accent3>
      <a:accent4>
        <a:srgbClr val="F59E0B"/>
      </a:accent4>
      <a:accent5>
        <a:srgbClr val="334155"/>
      </a:accent5>
      <a:accent6>
        <a:srgbClr val="94A3B8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mberG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mberGTheme">
  <a:themeElements>
    <a:clrScheme name="MemberGTheme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1F4E79"/>
      </a:accent1>
      <a:accent2>
        <a:srgbClr val="2F7FD3"/>
      </a:accent2>
      <a:accent3>
        <a:srgbClr val="0EA5A4"/>
      </a:accent3>
      <a:accent4>
        <a:srgbClr val="F59E0B"/>
      </a:accent4>
      <a:accent5>
        <a:srgbClr val="334155"/>
      </a:accent5>
      <a:accent6>
        <a:srgbClr val="94A3B8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mberG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WPS 演示</Application>
  <PresentationFormat>Converted Presentation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MemberGTheme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小火虫</cp:lastModifiedBy>
  <cp:revision>1</cp:revision>
  <dcterms:created xsi:type="dcterms:W3CDTF">2026-04-19T17:59:42Z</dcterms:created>
  <dcterms:modified xsi:type="dcterms:W3CDTF">2026-04-19T17:59:42Z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FDB1DE120676432EAD6A9C823D023687_12</vt:lpwstr>
  </property>
  <property fmtid="{D5CDD505-2E9C-101B-9397-08002B2CF9AE}" pid="3" name="KSOProductBuildVer">
    <vt:lpwstr>2052-12.1.0.25865</vt:lpwstr>
  </property>
</Properties>
</file>